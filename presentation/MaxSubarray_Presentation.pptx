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O(n³) Brute Force</c:v>
                </c:pt>
              </c:strCache>
            </c:strRef>
          </c:tx>
          <c:spPr>
            <a:solidFill>
              <a:srgbClr val="EF4444"/>
            </a:solidFill>
            <a:ln w="38100" cap="flat">
              <a:solidFill>
                <a:srgbClr val="EF44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100</c:v>
                  </c:pt>
                  <c:pt idx="1">
                    <c:v>500</c:v>
                  </c:pt>
                  <c:pt idx="2">
                    <c:v>1000</c:v>
                  </c:pt>
                  <c:pt idx="3">
                    <c:v>2000</c:v>
                  </c:pt>
                  <c:pt idx="4">
                    <c:v>3000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0.03</c:v>
                </c:pt>
                <c:pt idx="1">
                  <c:v>3.2</c:v>
                </c:pt>
                <c:pt idx="2">
                  <c:v>100</c:v>
                </c:pt>
                <c:pt idx="3">
                  <c:v>800</c:v>
                </c:pt>
                <c:pt idx="4">
                  <c:v>2700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O(n²) Better/Prefix</c:v>
                </c:pt>
              </c:strCache>
            </c:strRef>
          </c:tx>
          <c:spPr>
            <a:solidFill>
              <a:srgbClr val="F97316"/>
            </a:solidFill>
            <a:ln w="38100" cap="flat">
              <a:solidFill>
                <a:srgbClr val="F9731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97316"/>
              </a:solidFill>
              <a:ln w="9525" cap="flat">
                <a:solidFill>
                  <a:srgbClr val="F9731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100</c:v>
                  </c:pt>
                  <c:pt idx="1">
                    <c:v>500</c:v>
                  </c:pt>
                  <c:pt idx="2">
                    <c:v>1000</c:v>
                  </c:pt>
                  <c:pt idx="3">
                    <c:v>2000</c:v>
                  </c:pt>
                  <c:pt idx="4">
                    <c:v>3000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0.1</c:v>
                </c:pt>
                <c:pt idx="1">
                  <c:v>2.5</c:v>
                </c:pt>
                <c:pt idx="2">
                  <c:v>10</c:v>
                </c:pt>
                <c:pt idx="3">
                  <c:v>40</c:v>
                </c:pt>
                <c:pt idx="4">
                  <c:v>90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O(n log n) D&amp;C</c:v>
                </c:pt>
              </c:strCache>
            </c:strRef>
          </c:tx>
          <c:spPr>
            <a:solidFill>
              <a:srgbClr val="FBBF24"/>
            </a:solidFill>
            <a:ln w="38100" cap="flat">
              <a:solidFill>
                <a:srgbClr val="FBBF2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BBF24"/>
              </a:solidFill>
              <a:ln w="9525" cap="flat">
                <a:solidFill>
                  <a:srgbClr val="FBBF2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100</c:v>
                  </c:pt>
                  <c:pt idx="1">
                    <c:v>500</c:v>
                  </c:pt>
                  <c:pt idx="2">
                    <c:v>1000</c:v>
                  </c:pt>
                  <c:pt idx="3">
                    <c:v>2000</c:v>
                  </c:pt>
                  <c:pt idx="4">
                    <c:v>3000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0.5</c:v>
                </c:pt>
                <c:pt idx="1">
                  <c:v>2.5</c:v>
                </c:pt>
                <c:pt idx="2">
                  <c:v>5</c:v>
                </c:pt>
                <c:pt idx="3">
                  <c:v>11</c:v>
                </c:pt>
                <c:pt idx="4">
                  <c:v>17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O(n) Kadane</c:v>
                </c:pt>
              </c:strCache>
            </c:strRef>
          </c:tx>
          <c:spPr>
            <a:solidFill>
              <a:srgbClr val="10B981"/>
            </a:solidFill>
            <a:ln w="38100" cap="flat">
              <a:solidFill>
                <a:srgbClr val="10B9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100</c:v>
                  </c:pt>
                  <c:pt idx="1">
                    <c:v>500</c:v>
                  </c:pt>
                  <c:pt idx="2">
                    <c:v>1000</c:v>
                  </c:pt>
                  <c:pt idx="3">
                    <c:v>2000</c:v>
                  </c:pt>
                  <c:pt idx="4">
                    <c:v>3000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200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317 · Algorithms: Design &amp; Analysis · Spring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731520"/>
            <a:ext cx="8503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Subarray Sum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20040" y="196596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Design &amp; Empirical Analysis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2560320"/>
            <a:ext cx="32004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74320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Project  ·  Dr. Shahid Hussain  ·  Dr. Taslim Murad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Algorithms Compared  ·  Empirical Benchmarking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0" y="1463040"/>
            <a:ext cx="2011680" cy="219456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15544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6858000" y="24688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8229600" cy="960120"/>
          </a:xfrm>
          <a:prstGeom prst="rect">
            <a:avLst/>
          </a:prstGeom>
          <a:solidFill>
            <a:srgbClr val="E0F2FE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an array of integers (positive and negative), find the contiguous subarray whose elements sum to the maximum possible value.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82296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468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[ -2,  1, -3,  4, -1,  2,  1, -5,  4 ]     →     max subarray = [4, -1, 2, 1]     →     sum = 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712464"/>
            <a:ext cx="73152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6576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profit window in stock prices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3712464"/>
            <a:ext cx="73152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36576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Processing: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strongest signal segment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370832"/>
            <a:ext cx="73152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3159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Bioinformatics: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sequence alignment scoring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4370832"/>
            <a:ext cx="73152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43159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max subarray for region detection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at a Glance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3474720"/>
        </p:xfrm>
        <a:graphic>
          <a:graphicData uri="http://schemas.openxmlformats.org/drawingml/2006/table">
            <a:tbl>
              <a:tblPr/>
              <a:tblGrid>
                <a:gridCol w="365760"/>
                <a:gridCol w="2651760"/>
                <a:gridCol w="2011680"/>
                <a:gridCol w="1645920"/>
                <a:gridCol w="822960"/>
              </a:tblGrid>
              <a:tr h="579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Paradigm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Complexity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Brute Force (All Subarrays)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Exhaustive Search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O(n³)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Brute Force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Exhaustive Search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Prefix Sum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Precomputation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 &amp; Conquer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D&amp;C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Kadane's Algorithm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Programming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Kadane's is optimal — O(n) time with O(1) space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Pseudocode — Part 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22960"/>
            <a:ext cx="397764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3977640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59536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53462" y="859536"/>
            <a:ext cx="16706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O(n³)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243584"/>
            <a:ext cx="37947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← 0 to n-1: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j ← i to n-1: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 ← 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k ← i to j: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sum ← sum + arr[k]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sum &gt; maxSum: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maxSum ← sum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822960"/>
            <a:ext cx="397764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822960"/>
            <a:ext cx="3977640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859536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Brute Force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88302" y="859536"/>
            <a:ext cx="16706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243584"/>
            <a:ext cx="37947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← 0 to n-1: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 ← 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j ← i to n-1: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 ← sum + arr[j]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sum &gt; maxSum: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maxSum ← sum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(record i, j)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397764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926080"/>
            <a:ext cx="3977640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62656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Sum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53462" y="2962656"/>
            <a:ext cx="16706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346704"/>
            <a:ext cx="37947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pre[0] ← 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← 1 to n: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pre[i] ← pre[i-1] + arr[i-1]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← 0 to n-1: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j ← i+1 to n: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 ← pre[j] − pre[i]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maxSum ← max(maxSum, sum)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0600" y="2926080"/>
            <a:ext cx="397764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2926080"/>
            <a:ext cx="3977640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962656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Kadane's Algorithm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88302" y="2962656"/>
            <a:ext cx="16706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346704"/>
            <a:ext cx="37947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curSum ← arr[0]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maxSum ← arr[0]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← 1 to n-1: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curSum ← max(arr[i],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curSum + arr[i])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curSum &gt; maxSum: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maxSum ← curSum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Pseudocode — Divide &amp; Conquer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68680"/>
            <a:ext cx="5029200" cy="4023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68680"/>
            <a:ext cx="5029200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052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&amp; Conquer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0" y="9052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280160"/>
            <a:ext cx="475488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maxCrossing(arr, lo, mid, hi):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leftSum ← -∞;  sum ← 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i ← mid downto lo: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 ← sum + arr[i]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leftSum ← max(leftSum, sum)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rightSum ← -∞;  sum ← 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i ← mid+1 to hi: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 ← sum + arr[i]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rightSum ← max(rightSum, sum)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leftSum + rightSum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maxSubarray(arr, lo, hi):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lo == hi: return arr[lo]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mid ← (lo + hi) / 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left  ← maxSubarray(arr, lo, mid)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right ← maxSubarray(arr, mid+1, hi)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cross ← maxCrossing(arr, lo, mid, hi)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max(left, right, cross)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760720" y="914400"/>
            <a:ext cx="3017520" cy="804672"/>
          </a:xfrm>
          <a:prstGeom prst="rect">
            <a:avLst/>
          </a:prstGeom>
          <a:solidFill>
            <a:srgbClr val="F8FAFC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60720" y="914400"/>
            <a:ext cx="91440" cy="8046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9509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0" y="12435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array in half at midpoint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0720" y="1874520"/>
            <a:ext cx="3017520" cy="804672"/>
          </a:xfrm>
          <a:prstGeom prst="rect">
            <a:avLst/>
          </a:prstGeom>
          <a:solidFill>
            <a:srgbClr val="F8FAFC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60720" y="1874520"/>
            <a:ext cx="91440" cy="8046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19110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Conquer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0" y="22037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Recursively solve left &amp; right halves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60720" y="2834640"/>
            <a:ext cx="3017520" cy="804672"/>
          </a:xfrm>
          <a:prstGeom prst="rect">
            <a:avLst/>
          </a:prstGeom>
          <a:solidFill>
            <a:srgbClr val="F8FAFC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60720" y="2834640"/>
            <a:ext cx="9144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28712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0" y="31638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max crossing subarray through midpoint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760720" y="3794760"/>
            <a:ext cx="3017520" cy="804672"/>
          </a:xfrm>
          <a:prstGeom prst="rect">
            <a:avLst/>
          </a:prstGeom>
          <a:solidFill>
            <a:srgbClr val="F8FAFC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60720" y="3794760"/>
            <a:ext cx="91440" cy="8046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38313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0" y="41239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2T(n/2) + O(n) → O(n log n)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Complexity Analysis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57200" y="914400"/>
          <a:ext cx="47548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914400"/>
          <a:ext cx="3383280" cy="2926080"/>
        </p:xfrm>
        <a:graphic>
          <a:graphicData uri="http://schemas.openxmlformats.org/drawingml/2006/table">
            <a:tbl>
              <a:tblPr/>
              <a:tblGrid>
                <a:gridCol w="1691640"/>
                <a:gridCol w="548640"/>
                <a:gridCol w="594360"/>
                <a:gridCol w="548640"/>
              </a:tblGrid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n=100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n=1,000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n=10,000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Brute Force O(n³)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1T ⚠️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BF / Prefix O(n²)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 &amp; Conquer O(n log 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~133K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Kadane O(n)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394960" y="3931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operation counts (comparisons)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Results — Runtime Scaling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" name="Image 0" descr="/home/claude/plot1_logl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822960"/>
            <a:ext cx="557784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35040" y="1005840"/>
            <a:ext cx="274320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35040" y="1005840"/>
            <a:ext cx="82296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99632" y="10424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199632" y="13258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fastest — 13.7s at n=3000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035040" y="1965960"/>
            <a:ext cx="274320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035040" y="1965960"/>
            <a:ext cx="82296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99632" y="20025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Kadane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199632" y="22860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Virtually flat — 0.03ms at n=3000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035040" y="2926080"/>
            <a:ext cx="274320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35040" y="2926080"/>
            <a:ext cx="82296" cy="7772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99632" y="29626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D&amp;C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199632" y="32461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Sub-quadratic — between O(n) and O(n²)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035040" y="3886200"/>
            <a:ext cx="274320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3886200"/>
            <a:ext cx="82296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99632" y="392277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BF ≈ Prefix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199632" y="42062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identical O(n²) slopes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Log-Log scale: slopes confirm theoretical complexity classes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Over Brute Force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" name="Image 0" descr="/home/claude/plot2_speed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22960"/>
            <a:ext cx="548640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35040" y="914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at n = 3000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035040" y="1280160"/>
            <a:ext cx="274320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72200" y="13167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BF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172200" y="15727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~453×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035040" y="2084832"/>
            <a:ext cx="274320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72200" y="21214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Sum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172200" y="23774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~457×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035040" y="2889504"/>
            <a:ext cx="274320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72200" y="29260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D&amp;C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172200" y="31821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~27K×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035040" y="3694176"/>
            <a:ext cx="274320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72200" y="37307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Kadane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172200" y="398678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~500K×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Kadane is ~500,000× faster than Brute Force at n=3000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at n = 3000 (Random Dataset)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" name="Image 0" descr="/home/claude/plot4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41248"/>
            <a:ext cx="5029200" cy="4023360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914400"/>
          <a:ext cx="3246120" cy="2926080"/>
        </p:xfrm>
        <a:graphic>
          <a:graphicData uri="http://schemas.openxmlformats.org/drawingml/2006/table">
            <a:tbl>
              <a:tblPr/>
              <a:tblGrid>
                <a:gridCol w="1005840"/>
                <a:gridCol w="749808"/>
                <a:gridCol w="749808"/>
                <a:gridCol w="740664"/>
              </a:tblGrid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Brute Force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13,767ms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15,540ms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14,441ms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BF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31.8ms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30.1ms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19.3ms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Prefix Sum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30.7ms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26.2ms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15.9ms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D&amp;C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Kadane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0.025ms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0.068ms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0.029ms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Heatmap — All Algorithms &amp; Sizes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" name="Image 0" descr="/home/claude/plot5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22960"/>
            <a:ext cx="822960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dominates the color scale — all other algorithms appear nearly instantaneous by comparison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Sensitivity — Kadane's Algorithm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" name="Image 0" descr="/home/claude/plot3_kada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22960"/>
            <a:ext cx="530352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52160" y="914400"/>
            <a:ext cx="2971800" cy="1645920"/>
          </a:xfrm>
          <a:prstGeom prst="rect">
            <a:avLst/>
          </a:prstGeom>
          <a:solidFill>
            <a:srgbClr val="FEF9C3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89320" y="9692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Anomaly at n=500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89320" y="1316736"/>
            <a:ext cx="2697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Negative-only dataset shows a spike (0.20ms). Likely due to branch misprediction or cache effects — all-negative arrays force the algorithm to continuously reset currentSum, thrashing the branch predictor.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852160" y="2788920"/>
            <a:ext cx="297180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852160" y="2788920"/>
            <a:ext cx="73152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16752" y="28254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data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16752" y="30998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O(n) scaling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852160" y="3538728"/>
            <a:ext cx="297180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52160" y="3538728"/>
            <a:ext cx="73152" cy="6217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16752" y="357530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Positive-only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16752" y="384962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Predictable, fastest overall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852160" y="4288536"/>
            <a:ext cx="297180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852160" y="4288536"/>
            <a:ext cx="73152" cy="6217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16752" y="432511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Negative-only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016752" y="45994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 overhead — branch thrashing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vs. Empirical — Do They Match?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8229600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61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468880" y="11612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O(n³)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0" y="11612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O(n^2.99)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94960" y="11612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Confirmed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0" y="11612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≈ 3 on log-log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764792"/>
            <a:ext cx="82296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BF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68880" y="1965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O(n²)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0" y="1965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O(n^2.0)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94960" y="1965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Confirmed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0" y="1965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≈ 2 on log-log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569464"/>
            <a:ext cx="8229600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770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Sum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68880" y="27706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O(n²)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31920" y="27706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O(n^2.0)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94960" y="27706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Confirmed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0" y="27706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identical to Better BF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374136"/>
            <a:ext cx="82296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5753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468880" y="35753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 log n)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31920" y="35753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O(n^1.1)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94960" y="35753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Confirmed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0" y="35753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super-linear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178808"/>
            <a:ext cx="8229600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3799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Kadane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468880" y="43799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931920" y="43799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O(n^1.0)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94960" y="43799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Confirmed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58000" y="43799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Near-perfect linear fit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8046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468880" y="8046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931920" y="8046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94960" y="8046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Match?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58000" y="8046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empirical slopes closely match theoretical predictions — validating our implementations.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&amp; Weaknesses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0233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023360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893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Simple to implement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5179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Easy to verify correctness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423160" y="128930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O(n³) — impractical for n&gt;5000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423160" y="151790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early termination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350008"/>
            <a:ext cx="40233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350008"/>
            <a:ext cx="4023360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37744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Brute Force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6791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Simpler than D&amp;C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29077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O(n²) — usable up to ~10K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423160" y="267919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Still quadratic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423160" y="290779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memory reuse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739896"/>
            <a:ext cx="40233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739896"/>
            <a:ext cx="4023360" cy="2926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7673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Sum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0690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O(n) preprocessing reusable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2976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Extendable to 2D version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423160" y="406908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O(n) extra space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423160" y="429768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Still O(n²) query loop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960120"/>
            <a:ext cx="40233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960120"/>
            <a:ext cx="4023360" cy="2926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9875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&amp; Conquer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54880" y="12893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O(n log n) — efficient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54880" y="15179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Good for parallel processing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720840" y="128930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Complex implementation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720840" y="151790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Recursion stack overhead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2350008"/>
            <a:ext cx="40233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2350008"/>
            <a:ext cx="402336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237744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Kadane ★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54880" y="26791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Optimal O(n) time &amp; O(1) space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54880" y="29077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Simple, cache-friendly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720840" y="267919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1D only (needs extension for 2D)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720840" y="290779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Requires handling all-negative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50392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102412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Matches Practice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34416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Log-log slopes confirm O(n³), O(n²), O(n log n), and O(n) classes — all verified empirically.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0040" y="1993392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20116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Kadane Dominates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3317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~500,000× faster than Brute Force at n=3000. Optimal time and space — the clear winner for 1D problems.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0040" y="2980944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299923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Paradigm Matters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331927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paradigm (exhaustive, precomputation, D&amp;C, DP) yields measurable real-world performance differences.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0040" y="3968496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" y="398678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Type Has Minor Effect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4306824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All-negative inputs cause slight slowdowns (branch misprediction), but no algorithm changes complexity class.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20040" y="4828032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Subarray Sum · CSE 317 · Spring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Maximum Subarray Sum — Algorithm Analysis</dc:title>
  <dc:subject>PptxGenJS Presentation</dc:subject>
  <dc:creator>PptxGenJS</dc:creator>
  <cp:lastModifiedBy>PptxGenJS</cp:lastModifiedBy>
  <cp:revision>1</cp:revision>
  <dcterms:created xsi:type="dcterms:W3CDTF">2026-05-01T18:19:22Z</dcterms:created>
  <dcterms:modified xsi:type="dcterms:W3CDTF">2026-05-01T18:19:22Z</dcterms:modified>
</cp:coreProperties>
</file>